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Organic</c:v>
                  </c:pt>
                  <c:pt idx="1">
                    <c:v>Paid Search</c:v>
                  </c:pt>
                  <c:pt idx="2">
                    <c:v>Referral</c:v>
                  </c:pt>
                  <c:pt idx="3">
                    <c:v>Direct</c:v>
                  </c:pt>
                  <c:pt idx="4">
                    <c:v>LinkedIn</c:v>
                  </c:pt>
                  <c:pt idx="5">
                    <c:v>Webinar</c:v>
                  </c:pt>
                  <c:pt idx="6">
                    <c:v>Email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156</c:v>
                </c:pt>
                <c:pt idx="1">
                  <c:v>149</c:v>
                </c:pt>
                <c:pt idx="2">
                  <c:v>146</c:v>
                </c:pt>
                <c:pt idx="3">
                  <c:v>141</c:v>
                </c:pt>
                <c:pt idx="4">
                  <c:v>141</c:v>
                </c:pt>
                <c:pt idx="5">
                  <c:v>135</c:v>
                </c:pt>
                <c:pt idx="6">
                  <c:v>132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bubble3D val="0"/>
            <c:spPr>
              <a:solidFill>
                <a:srgbClr val="2ECC71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Dental</c:v>
                </c:pt>
                <c:pt idx="1">
                  <c:v>Behavioral Health</c:v>
                </c:pt>
                <c:pt idx="2">
                  <c:v>Primary Care</c:v>
                </c:pt>
                <c:pt idx="3">
                  <c:v>ABA Therapy</c:v>
                </c:pt>
                <c:pt idx="4">
                  <c:v>Home Health</c:v>
                </c:pt>
                <c:pt idx="5">
                  <c:v>Physical Therapy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461708</c:v>
                </c:pt>
                <c:pt idx="1">
                  <c:v>456215</c:v>
                </c:pt>
                <c:pt idx="2">
                  <c:v>449352</c:v>
                </c:pt>
                <c:pt idx="3">
                  <c:v>447016</c:v>
                </c:pt>
                <c:pt idx="4">
                  <c:v>442263</c:v>
                </c:pt>
                <c:pt idx="5">
                  <c:v>369083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Demo Rate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Referral</c:v>
                  </c:pt>
                  <c:pt idx="1">
                    <c:v>Webinar</c:v>
                  </c:pt>
                  <c:pt idx="2">
                    <c:v>Organic</c:v>
                  </c:pt>
                  <c:pt idx="3">
                    <c:v>Direct</c:v>
                  </c:pt>
                  <c:pt idx="4">
                    <c:v>LinkedIn</c:v>
                  </c:pt>
                  <c:pt idx="5">
                    <c:v>Paid Search</c:v>
                  </c:pt>
                  <c:pt idx="6">
                    <c:v>Email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32.9</c:v>
                </c:pt>
                <c:pt idx="1">
                  <c:v>31.1</c:v>
                </c:pt>
                <c:pt idx="2">
                  <c:v>25</c:v>
                </c:pt>
                <c:pt idx="3">
                  <c:v>22.7</c:v>
                </c:pt>
                <c:pt idx="4">
                  <c:v>19.1</c:v>
                </c:pt>
                <c:pt idx="5">
                  <c:v>14.1</c:v>
                </c:pt>
                <c:pt idx="6">
                  <c:v>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Rate %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Referral</c:v>
                  </c:pt>
                  <c:pt idx="1">
                    <c:v>Webinar</c:v>
                  </c:pt>
                  <c:pt idx="2">
                    <c:v>Organic</c:v>
                  </c:pt>
                  <c:pt idx="3">
                    <c:v>Direct</c:v>
                  </c:pt>
                  <c:pt idx="4">
                    <c:v>LinkedIn</c:v>
                  </c:pt>
                  <c:pt idx="5">
                    <c:v>Paid Search</c:v>
                  </c:pt>
                  <c:pt idx="6">
                    <c:v>Email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8.2</c:v>
                </c:pt>
                <c:pt idx="1">
                  <c:v>11.9</c:v>
                </c:pt>
                <c:pt idx="2">
                  <c:v>7.1</c:v>
                </c:pt>
                <c:pt idx="3">
                  <c:v>7.1</c:v>
                </c:pt>
                <c:pt idx="4">
                  <c:v>6.4</c:v>
                </c:pt>
                <c:pt idx="5">
                  <c:v>4</c:v>
                </c:pt>
                <c:pt idx="6">
                  <c:v>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Dental</c:v>
                  </c:pt>
                  <c:pt idx="1">
                    <c:v>Beh. Health</c:v>
                  </c:pt>
                  <c:pt idx="2">
                    <c:v>Primary Care</c:v>
                  </c:pt>
                  <c:pt idx="3">
                    <c:v>ABA Therapy</c:v>
                  </c:pt>
                  <c:pt idx="4">
                    <c:v>Home Health</c:v>
                  </c:pt>
                  <c:pt idx="5">
                    <c:v>Phys. Therapy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461708</c:v>
                </c:pt>
                <c:pt idx="1">
                  <c:v>456215</c:v>
                </c:pt>
                <c:pt idx="2">
                  <c:v>449352</c:v>
                </c:pt>
                <c:pt idx="3">
                  <c:v>447016</c:v>
                </c:pt>
                <c:pt idx="4">
                  <c:v>442263</c:v>
                </c:pt>
                <c:pt idx="5">
                  <c:v>369083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Jan'25</c:v>
                  </c:pt>
                  <c:pt idx="1">
                    <c:v>Feb'25</c:v>
                  </c:pt>
                  <c:pt idx="2">
                    <c:v>Mar'25</c:v>
                  </c:pt>
                  <c:pt idx="3">
                    <c:v>Apr'25</c:v>
                  </c:pt>
                  <c:pt idx="4">
                    <c:v>May'25</c:v>
                  </c:pt>
                  <c:pt idx="5">
                    <c:v>Jun'25</c:v>
                  </c:pt>
                  <c:pt idx="6">
                    <c:v>Jul'25</c:v>
                  </c:pt>
                  <c:pt idx="7">
                    <c:v>Aug'25</c:v>
                  </c:pt>
                  <c:pt idx="8">
                    <c:v>Sep'25</c:v>
                  </c:pt>
                  <c:pt idx="9">
                    <c:v>Oct'25</c:v>
                  </c:pt>
                  <c:pt idx="10">
                    <c:v>Nov'25</c:v>
                  </c:pt>
                  <c:pt idx="11">
                    <c:v>Dec'25</c:v>
                  </c:pt>
                  <c:pt idx="12">
                    <c:v>Jan'26</c:v>
                  </c:pt>
                  <c:pt idx="13">
                    <c:v>Feb'26</c:v>
                  </c:pt>
                  <c:pt idx="14">
                    <c:v>Mar'26</c:v>
                  </c:pt>
                  <c:pt idx="15">
                    <c:v>Apr'26</c:v>
                  </c:pt>
                  <c:pt idx="16">
                    <c:v>May'26</c:v>
                  </c:pt>
                  <c:pt idx="17">
                    <c:v>Jun'26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60</c:v>
                </c:pt>
                <c:pt idx="1">
                  <c:v>64</c:v>
                </c:pt>
                <c:pt idx="2">
                  <c:v>67</c:v>
                </c:pt>
                <c:pt idx="3">
                  <c:v>69</c:v>
                </c:pt>
                <c:pt idx="4">
                  <c:v>48</c:v>
                </c:pt>
                <c:pt idx="5">
                  <c:v>62</c:v>
                </c:pt>
                <c:pt idx="6">
                  <c:v>58</c:v>
                </c:pt>
                <c:pt idx="7">
                  <c:v>56</c:v>
                </c:pt>
                <c:pt idx="8">
                  <c:v>58</c:v>
                </c:pt>
                <c:pt idx="9">
                  <c:v>61</c:v>
                </c:pt>
                <c:pt idx="10">
                  <c:v>55</c:v>
                </c:pt>
                <c:pt idx="11">
                  <c:v>42</c:v>
                </c:pt>
                <c:pt idx="12">
                  <c:v>58</c:v>
                </c:pt>
                <c:pt idx="13">
                  <c:v>47</c:v>
                </c:pt>
                <c:pt idx="14">
                  <c:v>53</c:v>
                </c:pt>
                <c:pt idx="15">
                  <c:v>52</c:v>
                </c:pt>
                <c:pt idx="16">
                  <c:v>56</c:v>
                </c:pt>
                <c:pt idx="17">
                  <c:v>34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BC9C"/>
            </a:solidFill>
            <a:ln w="38100" cap="flat">
              <a:solidFill>
                <a:srgbClr val="1ABC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BC9C"/>
              </a:solidFill>
              <a:ln w="9525" cap="flat">
                <a:solidFill>
                  <a:srgbClr val="1AB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Jan'25</c:v>
                  </c:pt>
                  <c:pt idx="1">
                    <c:v>Feb'25</c:v>
                  </c:pt>
                  <c:pt idx="2">
                    <c:v>Mar'25</c:v>
                  </c:pt>
                  <c:pt idx="3">
                    <c:v>Apr'25</c:v>
                  </c:pt>
                  <c:pt idx="4">
                    <c:v>May'25</c:v>
                  </c:pt>
                  <c:pt idx="5">
                    <c:v>Jun'25</c:v>
                  </c:pt>
                  <c:pt idx="6">
                    <c:v>Jul'25</c:v>
                  </c:pt>
                  <c:pt idx="7">
                    <c:v>Aug'25</c:v>
                  </c:pt>
                  <c:pt idx="8">
                    <c:v>Sep'25</c:v>
                  </c:pt>
                  <c:pt idx="9">
                    <c:v>Oct'25</c:v>
                  </c:pt>
                  <c:pt idx="10">
                    <c:v>Nov'25</c:v>
                  </c:pt>
                  <c:pt idx="11">
                    <c:v>Dec'25</c:v>
                  </c:pt>
                  <c:pt idx="12">
                    <c:v>Jan'26</c:v>
                  </c:pt>
                  <c:pt idx="13">
                    <c:v>Feb'26</c:v>
                  </c:pt>
                  <c:pt idx="14">
                    <c:v>Mar'26</c:v>
                  </c:pt>
                  <c:pt idx="15">
                    <c:v>Apr'26</c:v>
                  </c:pt>
                  <c:pt idx="16">
                    <c:v>May'26</c:v>
                  </c:pt>
                  <c:pt idx="17">
                    <c:v>Jun'26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168033</c:v>
                </c:pt>
                <c:pt idx="1">
                  <c:v>181673</c:v>
                </c:pt>
                <c:pt idx="2">
                  <c:v>175351</c:v>
                </c:pt>
                <c:pt idx="3">
                  <c:v>186193</c:v>
                </c:pt>
                <c:pt idx="4">
                  <c:v>118084</c:v>
                </c:pt>
                <c:pt idx="5">
                  <c:v>169890</c:v>
                </c:pt>
                <c:pt idx="6">
                  <c:v>151784</c:v>
                </c:pt>
                <c:pt idx="7">
                  <c:v>144445</c:v>
                </c:pt>
                <c:pt idx="8">
                  <c:v>153631</c:v>
                </c:pt>
                <c:pt idx="9">
                  <c:v>165941</c:v>
                </c:pt>
                <c:pt idx="10">
                  <c:v>157345</c:v>
                </c:pt>
                <c:pt idx="11">
                  <c:v>94171</c:v>
                </c:pt>
                <c:pt idx="12">
                  <c:v>149158</c:v>
                </c:pt>
                <c:pt idx="13">
                  <c:v>109131</c:v>
                </c:pt>
                <c:pt idx="14">
                  <c:v>126393</c:v>
                </c:pt>
                <c:pt idx="15">
                  <c:v>128644</c:v>
                </c:pt>
                <c:pt idx="16">
                  <c:v>154402</c:v>
                </c:pt>
                <c:pt idx="17">
                  <c:v>91368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Employees</c:v>
                  </c:pt>
                  <c:pt idx="1">
                    <c:v>State</c:v>
                  </c:pt>
                  <c:pt idx="2">
                    <c:v>Source</c:v>
                  </c:pt>
                  <c:pt idx="3">
                    <c:v>Industry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65.6</c:v>
                </c:pt>
                <c:pt idx="1">
                  <c:v>11.2</c:v>
                </c:pt>
                <c:pt idx="2">
                  <c:v>14</c:v>
                </c:pt>
                <c:pt idx="3">
                  <c:v>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4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D1B4B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EMITRR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Intelligence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Revenue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Sales &amp; Business Operations Assignment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2004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Singh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1,000 Healthcare Leads  |  Jun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4142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411480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97480" y="4142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748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411480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4142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95160" y="411480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4142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1,000 healthcare leads across sources, industries &amp; geographies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Jun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1143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874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Booked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20574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 demo rate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0574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30.2% demo→customer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1143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$2,626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1874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20574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lead potential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by Source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274320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84632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 by Industry</a:t>
            </a:r>
            <a:endParaRPr lang="en-US" sz="13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4846320" y="2743200"/>
          <a:ext cx="4023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Demo → Customer conversion journey with source-level breakdown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704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   |   1,000   |   100%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627632"/>
            <a:ext cx="0" cy="164592"/>
          </a:xfrm>
          <a:prstGeom prst="line">
            <a:avLst/>
          </a:prstGeom>
          <a:noFill/>
          <a:ln w="25400">
            <a:solidFill>
              <a:srgbClr val="8A9B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828800"/>
            <a:ext cx="5943600" cy="530352"/>
          </a:xfrm>
          <a:prstGeom prst="roundRect">
            <a:avLst>
              <a:gd name="adj" fmla="val 8621"/>
            </a:avLst>
          </a:prstGeom>
          <a:solidFill>
            <a:srgbClr val="1565A8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9202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Booked   |   222   |   22.2%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0" cy="164592"/>
          </a:xfrm>
          <a:prstGeom prst="line">
            <a:avLst/>
          </a:prstGeom>
          <a:noFill/>
          <a:ln w="25400">
            <a:solidFill>
              <a:srgbClr val="8A9B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578608"/>
            <a:ext cx="3657600" cy="530352"/>
          </a:xfrm>
          <a:prstGeom prst="roundRect">
            <a:avLst>
              <a:gd name="adj" fmla="val 8621"/>
            </a:avLst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Customer   |   67   |   6.7%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Source (%)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3584448"/>
          <a:ext cx="50292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669280" y="3291840"/>
            <a:ext cx="3291840" cy="1755648"/>
          </a:xfrm>
          <a:prstGeom prst="roundRect">
            <a:avLst>
              <a:gd name="adj" fmla="val 520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33832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367588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Webinar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highest customer rate: 11.9%
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lowest at just 2.3% conversion
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Referral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best demo rate: 32.9%
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Overall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30.2% of demos convert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Potential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$2.63M total monthly revenue potential across all leads — identifying high-value segments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Potential by Industry ($)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143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 |  Demo Rate  |  Conv. Rate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0" y="1463040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508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15087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$2,594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35240" y="15087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11312" y="15087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1847088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18928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18928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$2,799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35240" y="18928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11312" y="18928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2231136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22768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Beh. Health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03720" y="227685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35240" y="2276856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11312" y="2276856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2615184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806440" y="26609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Phys. Therapy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03720" y="26609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$2,618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35240" y="266090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11312" y="266090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2999232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806440" y="3044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Therapy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03720" y="3044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35240" y="304495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11312" y="304495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0" y="3383280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80644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Care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903720" y="3429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$2,469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635240" y="34290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11312" y="34290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3913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 (Top 5)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57200" y="4206240"/>
            <a:ext cx="89611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57200" y="4206240"/>
            <a:ext cx="896112" cy="237744"/>
          </a:xfrm>
          <a:prstGeom prst="roundRect">
            <a:avLst>
              <a:gd name="adj" fmla="val 26923"/>
            </a:avLst>
          </a:prstGeom>
          <a:solidFill>
            <a:srgbClr val="1E2761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22452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57200" y="446227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$304K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57200" y="4681728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 conv.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444752" y="4206240"/>
            <a:ext cx="89611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444752" y="4206240"/>
            <a:ext cx="896112" cy="237744"/>
          </a:xfrm>
          <a:prstGeom prst="roundRect">
            <a:avLst>
              <a:gd name="adj" fmla="val 26923"/>
            </a:avLst>
          </a:prstGeom>
          <a:solidFill>
            <a:srgbClr val="1E2761"/>
          </a:solidFill>
          <a:ln/>
        </p:spPr>
      </p:sp>
      <p:sp>
        <p:nvSpPr>
          <p:cNvPr id="45" name="Text 42"/>
          <p:cNvSpPr/>
          <p:nvPr/>
        </p:nvSpPr>
        <p:spPr>
          <a:xfrm>
            <a:off x="1444752" y="422452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444752" y="446227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$294K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444752" y="4681728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 conv.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432304" y="4206240"/>
            <a:ext cx="89611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2432304" y="4206240"/>
            <a:ext cx="896112" cy="237744"/>
          </a:xfrm>
          <a:prstGeom prst="roundRect">
            <a:avLst>
              <a:gd name="adj" fmla="val 26923"/>
            </a:avLst>
          </a:prstGeom>
          <a:solidFill>
            <a:srgbClr val="1E2761"/>
          </a:solidFill>
          <a:ln/>
        </p:spPr>
      </p:sp>
      <p:sp>
        <p:nvSpPr>
          <p:cNvPr id="50" name="Text 47"/>
          <p:cNvSpPr/>
          <p:nvPr/>
        </p:nvSpPr>
        <p:spPr>
          <a:xfrm>
            <a:off x="2432304" y="422452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2432304" y="446227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$272K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2432304" y="4681728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conv.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419856" y="4206240"/>
            <a:ext cx="89611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3419856" y="4206240"/>
            <a:ext cx="896112" cy="237744"/>
          </a:xfrm>
          <a:prstGeom prst="roundRect">
            <a:avLst>
              <a:gd name="adj" fmla="val 26923"/>
            </a:avLst>
          </a:prstGeom>
          <a:solidFill>
            <a:srgbClr val="1E2761"/>
          </a:solidFill>
          <a:ln/>
        </p:spPr>
      </p:sp>
      <p:sp>
        <p:nvSpPr>
          <p:cNvPr id="55" name="Text 52"/>
          <p:cNvSpPr/>
          <p:nvPr/>
        </p:nvSpPr>
        <p:spPr>
          <a:xfrm>
            <a:off x="3419856" y="422452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3419856" y="446227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$269K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3419856" y="4681728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conv.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407408" y="4206240"/>
            <a:ext cx="89611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4407408" y="4206240"/>
            <a:ext cx="896112" cy="237744"/>
          </a:xfrm>
          <a:prstGeom prst="roundRect">
            <a:avLst>
              <a:gd name="adj" fmla="val 26923"/>
            </a:avLst>
          </a:prstGeom>
          <a:solidFill>
            <a:srgbClr val="1E2761"/>
          </a:solidFill>
          <a:ln/>
        </p:spPr>
      </p:sp>
      <p:sp>
        <p:nvSpPr>
          <p:cNvPr id="60" name="Text 57"/>
          <p:cNvSpPr/>
          <p:nvPr/>
        </p:nvSpPr>
        <p:spPr>
          <a:xfrm>
            <a:off x="4407408" y="422452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4407408" y="446227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$264K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4407408" y="4681728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conv.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lead volume and revenue trends from Jan 2025 to Jun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Lead Volume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82296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35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Potential ($)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57200" y="3310128"/>
          <a:ext cx="822960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00600"/>
            <a:ext cx="82296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48188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Dip: May '25 &amp; Dec '25 (seasonal)   |   📈 Peak: Apr '25 — 69 leads, $186K   |   ⚠️ Jun '26 = partial month (18 days)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Opportunities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AI-identified high-impact areas to accelerate revenue and improve conversion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57200" cy="118872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High Priority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Webinars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leads convert at 11.9% — the highest of any source. Increasing webinar frequency and targeting Physical Therapy &amp; Primary Care audiences can significantly boost closed deals.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57200" cy="1188720"/>
          </a:xfrm>
          <a:prstGeom prst="roundRect">
            <a:avLst>
              <a:gd name="adj" fmla="val 16000"/>
            </a:avLst>
          </a:prstGeom>
          <a:solidFill>
            <a:srgbClr val="1565A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Quick Win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1389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Email Channel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6642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has a 2.3% conversion rate — 5× lower than Webinar. Personalization, automated follow-ups, and better segmentation could unlock untapped leads in this channel.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14600"/>
            <a:ext cx="457200" cy="1188720"/>
          </a:xfrm>
          <a:prstGeom prst="roundRect">
            <a:avLst>
              <a:gd name="adj" fmla="val 16000"/>
            </a:avLst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5603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Vertical Focus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7614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Physical Therapy Verticals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0358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Therapy has the highest customer conversion rate at 9.2%. A dedicated outreach campaign for this segment with referral + webinar mix can yield outsized returns.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514600"/>
            <a:ext cx="457200" cy="1188720"/>
          </a:xfrm>
          <a:prstGeom prst="roundRect">
            <a:avLst>
              <a:gd name="adj" fmla="val 16000"/>
            </a:avLst>
          </a:prstGeom>
          <a:solidFill>
            <a:srgbClr val="9B59B6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5603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Geo Expansion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27614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NY &amp; IL Markets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0358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shows 12.0% customer rate and IL 8.6% — both above average. These states are high-value markets with strong conversion potential worth scaling efforts in.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886200"/>
            <a:ext cx="457200" cy="1188720"/>
          </a:xfrm>
          <a:prstGeom prst="roundRect">
            <a:avLst>
              <a:gd name="adj" fmla="val 16000"/>
            </a:avLst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97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9319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Insight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4133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Mid-Size Orgs (50–300 Employees)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4074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 is the #1 ML feature (65.6% importance). Companies in the 50–300 employee band show the best balance of deal size and close probability.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886200"/>
            <a:ext cx="457200" cy="118872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297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39319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Pipeline Fix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4133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Demo-to-Close Drop-off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44074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30.2% of demos convert to customers. Investing in demo quality, follow-up cadence, and tailored proposals can improve this ratio substantially.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Lead Scoring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 assigns each lead a score of 1–10 (likelihood to convert to customer)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(What Drives Conversion?)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44752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143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 (1=Low → 10=High)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508760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0D1B4B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0" y="1508760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1565A8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5636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(Low)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49440" y="156362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 leads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01000" y="15636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1892808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0D1B4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0" y="1892808"/>
            <a:ext cx="1194305" cy="329184"/>
          </a:xfrm>
          <a:prstGeom prst="roundRect">
            <a:avLst>
              <a:gd name="adj" fmla="val 13889"/>
            </a:avLst>
          </a:prstGeom>
          <a:solidFill>
            <a:srgbClr val="4FC3F7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19476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49440" y="19476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leads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01000" y="19476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2276856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0D1B4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0" y="2276856"/>
            <a:ext cx="570851" cy="329184"/>
          </a:xfrm>
          <a:prstGeom prst="roundRect">
            <a:avLst>
              <a:gd name="adj" fmla="val 13889"/>
            </a:avLst>
          </a:prstGeom>
          <a:solidFill>
            <a:srgbClr val="4FC3F7">
              <a:alpha val="7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760720" y="23317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49440" y="23317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leads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01000" y="23317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2660904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0D1B4B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0" y="2660904"/>
            <a:ext cx="548640" cy="329184"/>
          </a:xfrm>
          <a:prstGeom prst="roundRect">
            <a:avLst>
              <a:gd name="adj" fmla="val 13889"/>
            </a:avLst>
          </a:prstGeom>
          <a:solidFill>
            <a:srgbClr val="4FC3F7">
              <a:alpha val="7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760720" y="27157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49440" y="27157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leads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01000" y="271576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3044952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0D1B4B"/>
          </a:solidFill>
          <a:ln/>
        </p:spPr>
      </p:sp>
      <p:sp>
        <p:nvSpPr>
          <p:cNvPr id="28" name="Shape 25"/>
          <p:cNvSpPr/>
          <p:nvPr/>
        </p:nvSpPr>
        <p:spPr>
          <a:xfrm>
            <a:off x="5669280" y="3044952"/>
            <a:ext cx="548640" cy="329184"/>
          </a:xfrm>
          <a:prstGeom prst="roundRect">
            <a:avLst>
              <a:gd name="adj" fmla="val 13889"/>
            </a:avLst>
          </a:prstGeom>
          <a:solidFill>
            <a:srgbClr val="2ECC71">
              <a:alpha val="7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760720" y="30998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(High)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49440" y="309981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leads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01000" y="309981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382219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103120" y="38221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40599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103120" y="405993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4297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103120" y="42976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leads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57200" y="45354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Predictor: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103120" y="453542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 (Employees) — 65.6%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7200" y="47731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103120" y="4773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(unlikely) → 10 (highly likely to convert)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669280" y="3520440"/>
            <a:ext cx="3291840" cy="1481328"/>
          </a:xfrm>
          <a:prstGeom prst="roundRect">
            <a:avLst>
              <a:gd name="adj" fmla="val 4938"/>
            </a:avLst>
          </a:prstGeom>
          <a:solidFill>
            <a:srgbClr val="0D1B4B"/>
          </a:solidFill>
          <a:ln/>
        </p:spPr>
      </p:sp>
      <p:sp>
        <p:nvSpPr>
          <p:cNvPr id="44" name="Text 41"/>
          <p:cNvSpPr/>
          <p:nvPr/>
        </p:nvSpPr>
        <p:spPr>
          <a:xfrm>
            <a:off x="5806440" y="35935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 Score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80644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Score 1–3: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Nurture via email drip
</a:t>
            </a:r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Score 4–6: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SDR outreach + demo invite
</a:t>
            </a:r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Score 7–10: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Priority AE handoff + fast-track demo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Descriptive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leads across 7 sources, 6 industries. Avg rev potential $2,626/lead. 22.2% demo rate.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887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 Funnel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→ 222 demos → 67 customers. Webinar &amp; Referral lead conversion; Email lags.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1887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tops total revenue. Home Health has highest avg revenue/lead at $2,799.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788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Apr '25. Seasonal dips in May &amp; Dec. YoY growth visible despite partial Jun '26.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37560" y="26974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2788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Growth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scale-up, Email fix, Physical Therapy vertical focus, NY/IL geo expansion.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6974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788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Scoring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108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model at 95.2% accuracy. Employee count = top predictor. 11 leads scored 7–10.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Sonu Singh  ·  AI Intern – Sales &amp; Business Operations  ·  Emitrr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Intern Assignment - Emitrr Lead Analysis</dc:title>
  <dc:subject>PptxGenJS Presentation</dc:subject>
  <dc:creator>Sonu Singh</dc:creator>
  <cp:lastModifiedBy>Sonu Singh</cp:lastModifiedBy>
  <cp:revision>1</cp:revision>
  <dcterms:created xsi:type="dcterms:W3CDTF">2026-06-18T05:49:57Z</dcterms:created>
  <dcterms:modified xsi:type="dcterms:W3CDTF">2026-06-18T05:49:57Z</dcterms:modified>
</cp:coreProperties>
</file>